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Sparseness |Eₕ|/n  (density = 0.3)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α=3 (k=2)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n=10</c:v>
                  </c:pt>
                  <c:pt idx="1">
                    <c:v>n=20</c:v>
                  </c:pt>
                  <c:pt idx="2">
                    <c:v>n=50</c:v>
                  </c:pt>
                  <c:pt idx="3">
                    <c:v>n=100</c:v>
                  </c:pt>
                  <c:pt idx="4">
                    <c:v>n=200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1.02</c:v>
                </c:pt>
                <c:pt idx="2">
                  <c:v>1.16</c:v>
                </c:pt>
                <c:pt idx="3">
                  <c:v>1.2</c:v>
                </c:pt>
                <c:pt idx="4">
                  <c:v>1.34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α=5 (k=3)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n=10</c:v>
                  </c:pt>
                  <c:pt idx="1">
                    <c:v>n=20</c:v>
                  </c:pt>
                  <c:pt idx="2">
                    <c:v>n=50</c:v>
                  </c:pt>
                  <c:pt idx="3">
                    <c:v>n=100</c:v>
                  </c:pt>
                  <c:pt idx="4">
                    <c:v>n=200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</c:v>
                </c:pt>
                <c:pt idx="1">
                  <c:v>0.95</c:v>
                </c:pt>
                <c:pt idx="2">
                  <c:v>1.01</c:v>
                </c:pt>
                <c:pt idx="3">
                  <c:v>1.03</c:v>
                </c:pt>
                <c:pt idx="4">
                  <c:v>1.09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Runtime α=3 (seconds)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density=0.1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n=10</c:v>
                  </c:pt>
                  <c:pt idx="1">
                    <c:v>n=20</c:v>
                  </c:pt>
                  <c:pt idx="2">
                    <c:v>n=50</c:v>
                  </c:pt>
                  <c:pt idx="3">
                    <c:v>n=100</c:v>
                  </c:pt>
                  <c:pt idx="4">
                    <c:v>n=200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0.001</c:v>
                </c:pt>
                <c:pt idx="1">
                  <c:v>0.001</c:v>
                </c:pt>
                <c:pt idx="2">
                  <c:v>0.008</c:v>
                </c:pt>
                <c:pt idx="3">
                  <c:v>0.071</c:v>
                </c:pt>
                <c:pt idx="4">
                  <c:v>0.719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density=0.3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n=10</c:v>
                  </c:pt>
                  <c:pt idx="1">
                    <c:v>n=20</c:v>
                  </c:pt>
                  <c:pt idx="2">
                    <c:v>n=50</c:v>
                  </c:pt>
                  <c:pt idx="3">
                    <c:v>n=100</c:v>
                  </c:pt>
                  <c:pt idx="4">
                    <c:v>n=200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0.001</c:v>
                </c:pt>
                <c:pt idx="1">
                  <c:v>0.005</c:v>
                </c:pt>
                <c:pt idx="2">
                  <c:v>0.036</c:v>
                </c:pt>
                <c:pt idx="3">
                  <c:v>0.271</c:v>
                </c:pt>
                <c:pt idx="4">
                  <c:v>2.243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density=0.5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n=10</c:v>
                  </c:pt>
                  <c:pt idx="1">
                    <c:v>n=20</c:v>
                  </c:pt>
                  <c:pt idx="2">
                    <c:v>n=50</c:v>
                  </c:pt>
                  <c:pt idx="3">
                    <c:v>n=100</c:v>
                  </c:pt>
                  <c:pt idx="4">
                    <c:v>n=200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0.001</c:v>
                </c:pt>
                <c:pt idx="1">
                  <c:v>0.004</c:v>
                </c:pt>
                <c:pt idx="2">
                  <c:v>0.059</c:v>
                </c:pt>
                <c:pt idx="3">
                  <c:v>0.491</c:v>
                </c:pt>
                <c:pt idx="4">
                  <c:v>3.822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Spanner Approximations in Practice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423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Demo · ADA Semester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 Muhammad Muneeb · Abdul Moiz Ahmed · Moosa Owais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840480"/>
            <a:ext cx="658368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5876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Chimani &amp; Stutzenstein — Spanner Approximations in Practice (ESA 2022, LIPIcs Vol. 244)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8587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α-Spanner H of G = (V, E, w):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dH(u,v) ≤ α · dG(u,v)  for all u,v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 with as few edges as possible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(NP-hard to solve exactly)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α → denser H → slower build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(2k−1)-Spanner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Sort edges by weight ascending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each edge (u,v):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dH(u,v) &gt; α·w(u,v): add to 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Return H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|EH| = O(n^{1+1/k}), lightness O(n/k)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O(m(n^{1+1/k} + n log n))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Implemented ✓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— Greedy Spanner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instances: n ∈ {10,20,50,100,200}, density ∈ {0.1,0.3,0.5}, 3 reps, k ∈ {2,3} — all stretch bounds satisfied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70332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685800"/>
                <a:gridCol w="1005840"/>
                <a:gridCol w="914400"/>
                <a:gridCol w="1051560"/>
                <a:gridCol w="137160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Stretch tight against bound  ·  All 90 instances verified correct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777240"/>
          <a:ext cx="33832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60520"/>
            <a:ext cx="283464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41788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5.3×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325880" y="417880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increase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0.1→0.5, n=200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27832" y="4160520"/>
            <a:ext cx="283464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319272" y="41788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4279392" y="417880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edges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α=3→α=5 at n=200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81344" y="4160520"/>
            <a:ext cx="283464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72784" y="41788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7232904" y="417880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check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Remaining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Identified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scalability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3.8s at n=200, density=0.5. Extrapolating to n=2,000 is infeasible. Capped at n≤500, sparse graphs.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393192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oracle at scale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APSP is O(n² log n). Above n=500, use 500-pair sampling — may underestimate true max stretch.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3931920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Baswana–Sen correctness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Multi-round cluster sampling: correctness invariant harder to verify. Requires careful per-round bookkeeping.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27432" cy="3520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4023360" cy="1005840"/>
          </a:xfrm>
          <a:prstGeom prst="rect">
            <a:avLst/>
          </a:prstGeom>
          <a:solidFill>
            <a:srgbClr val="0F2040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371600"/>
            <a:ext cx="7772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1417320"/>
            <a:ext cx="75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1463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Baswana–Sen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vs Greedy on Random (n ≤ 500)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4023360" cy="1005840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514600"/>
            <a:ext cx="7772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2560320"/>
            <a:ext cx="75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2606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TSPLIB (95 graphs) + SNAP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metrics, both algorithms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4023360" cy="1005840"/>
          </a:xfrm>
          <a:prstGeom prst="rect">
            <a:avLst/>
          </a:prstGeom>
          <a:solidFill>
            <a:srgbClr val="0F2040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657600"/>
            <a:ext cx="777240" cy="100584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3703320"/>
            <a:ext cx="75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analysis + figures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Spanner Approximations — Interim Demo</dc:title>
  <dc:subject>PptxGenJS Presentation</dc:subject>
  <dc:creator>PptxGenJS</dc:creator>
  <cp:lastModifiedBy>PptxGenJS</cp:lastModifiedBy>
  <cp:revision>1</cp:revision>
  <dcterms:created xsi:type="dcterms:W3CDTF">2026-04-05T09:00:05Z</dcterms:created>
  <dcterms:modified xsi:type="dcterms:W3CDTF">2026-04-05T09:00:05Z</dcterms:modified>
</cp:coreProperties>
</file>