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Urbanist Medium"/>
      <p:regular r:id="rId17"/>
      <p:bold r:id="rId18"/>
      <p:italic r:id="rId19"/>
      <p:boldItalic r:id="rId20"/>
    </p:embeddedFont>
    <p:embeddedFont>
      <p:font typeface="Urbanist SemiBold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Italic.fntdata"/><Relationship Id="rId22" Type="http://schemas.openxmlformats.org/officeDocument/2006/relationships/font" Target="fonts/UrbanistSemiBold-bold.fntdata"/><Relationship Id="rId21" Type="http://schemas.openxmlformats.org/officeDocument/2006/relationships/font" Target="fonts/UrbanistSemiBold-regular.fntdata"/><Relationship Id="rId24" Type="http://schemas.openxmlformats.org/officeDocument/2006/relationships/font" Target="fonts/UrbanistSemiBold-boldItalic.fntdata"/><Relationship Id="rId23" Type="http://schemas.openxmlformats.org/officeDocument/2006/relationships/font" Target="fonts/Urbanist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Medium-regular.fntdata"/><Relationship Id="rId16" Type="http://schemas.openxmlformats.org/officeDocument/2006/relationships/slide" Target="slides/slide11.xml"/><Relationship Id="rId19" Type="http://schemas.openxmlformats.org/officeDocument/2006/relationships/font" Target="fonts/UrbanistMedium-italic.fntdata"/><Relationship Id="rId18" Type="http://schemas.openxmlformats.org/officeDocument/2006/relationships/font" Target="fonts/Urbanist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2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9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29.png"/><Relationship Id="rId7" Type="http://schemas.openxmlformats.org/officeDocument/2006/relationships/image" Target="../media/image31.png"/><Relationship Id="rId8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0279" y="571500"/>
            <a:ext cx="1153144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Graph Spanner </a:t>
            </a:r>
            <a:r>
              <a:rPr b="1" i="0" lang="en-US" sz="60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Approximations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738437" y="1676400"/>
            <a:ext cx="67151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Sparse Distance-Preserving Subgraphs in Practice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38487" y="3379440"/>
            <a:ext cx="59150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Sheikh Muhammad Muneeb | Abdul Moiz | Ahmed Moosa Owais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138487" y="4093330"/>
            <a:ext cx="5915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Habib University | CS412 Algorithms: Design and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1906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18320"/>
            <a:ext cx="52863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1400175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spanner H is a sparse subgraph of G that preserves all pairwise distances within a multiplicative stretch factor alpha.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346995"/>
            <a:ext cx="528637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Optimization Challenge: Minimizing path stretch while maximizing sparseness (edge count) and lightness (total weight).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200150"/>
            <a:ext cx="5267325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737395"/>
            <a:ext cx="2741711" cy="21431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Problem</a:t>
            </a: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Definition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0625"/>
            <a:ext cx="3486150" cy="2235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400" y="1190625"/>
            <a:ext cx="3505200" cy="2235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4350" y="1190625"/>
            <a:ext cx="3486150" cy="2235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866775" y="14859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Greedy ADDJS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66775" y="1981200"/>
            <a:ext cx="2895600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Deterministic approach. Processes edges in non-decreasing weight order. Guarantees near-optimal lightness but requires high path-query overhead.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648200" y="149542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Baswana-Sen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4648200" y="1990725"/>
            <a:ext cx="2895600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Randomized clustering algorithm. Operates in expected linear time O(kE). Efficient for massive graphs but provides no weight guarantees.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429625" y="148590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The Trade-off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429625" y="1981200"/>
            <a:ext cx="289560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Greedy = High Quality, Low Scalability.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Baswana-Sen = High Scalability, Variable Quality.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Algorithmic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Contenders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571500" y="1343025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957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Stack: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 3 with NetworkX for graph primitives and path queries.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120205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Dijkstra Bottleneck: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Greedy execution limited to n ≤ 500 due to pure Python interpreter overhead on complete graphs.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3190726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Variance Control: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10 independent trials executed for Baswana-Sen to isolate randomization effects.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68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4401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14538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Methodology &amp;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Implementation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0625"/>
            <a:ext cx="3492549" cy="3188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190625"/>
            <a:ext cx="3492549" cy="31884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190625"/>
            <a:ext cx="3492549" cy="3188493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71500" y="4760118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Total: 1,360 logical configurations evaluated.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66775" y="1866900"/>
            <a:ext cx="290199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102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66775" y="2781300"/>
            <a:ext cx="2901999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TSPLIB Instances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866775" y="3192660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Dense metric graphs, filtered for valid symmetric properties (No ATSP/zero-weight).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45074" y="1866900"/>
            <a:ext cx="290199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237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45074" y="2781300"/>
            <a:ext cx="2901999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Steinlib Instances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645074" y="3192660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Sparse grid and VLSI-derived instances testing bottleneck edge retention.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423374" y="1866900"/>
            <a:ext cx="2901999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423374" y="2781300"/>
            <a:ext cx="2901999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SNAP Social Graphs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423374" y="3192660"/>
            <a:ext cx="2901999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Facebook (ego) and Gnutella (P2P) for massive small-world scalability testing.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Benchmark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Dataset</a:t>
            </a: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Suite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06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1906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571500" y="1400175"/>
            <a:ext cx="5286375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Greedy strictly minimizes graph density, while Baswana-Sen retains significantly more redundant links due to randomized clustering.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571500" y="3708945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EF26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Insight: BS is ~10.9x denser than Greedy on metric graphs.</a:t>
            </a:r>
            <a:endParaRPr/>
          </a:p>
        </p:txBody>
      </p:sp>
      <p:pic>
        <p:nvPicPr>
          <p:cNvPr id="156" name="Google Shape;156;p18" title="fig_sparseness.png"/>
          <p:cNvPicPr preferRelativeResize="0"/>
          <p:nvPr/>
        </p:nvPicPr>
        <p:blipFill rotWithShape="1">
          <a:blip r:embed="rId6">
            <a:alphaModFix/>
          </a:blip>
          <a:srcRect b="-1317" l="0" r="359" t="0"/>
          <a:stretch/>
        </p:blipFill>
        <p:spPr>
          <a:xfrm>
            <a:off x="6343650" y="1200150"/>
            <a:ext cx="5267323" cy="379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Results: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Sparseness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3" y="24847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06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title="fig_lightness.png"/>
          <p:cNvPicPr preferRelativeResize="0"/>
          <p:nvPr/>
        </p:nvPicPr>
        <p:blipFill rotWithShape="1">
          <a:blip r:embed="rId5">
            <a:alphaModFix/>
          </a:blip>
          <a:srcRect b="-1300" l="-478" r="837" t="1300"/>
          <a:stretch/>
        </p:blipFill>
        <p:spPr>
          <a:xfrm>
            <a:off x="581025" y="1200150"/>
            <a:ext cx="5267323" cy="379094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6334125" y="1400175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Lightness evaluates spanner weight relative to the Minimum Spanning Tree (MST).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334125" y="3506985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Critical Failure: BS lightness is a direct function of edge density; inviable for routing cost-minimization.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334125" y="2177355"/>
            <a:ext cx="5286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Greedy: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Bounds weight near 1.3 across all topologies.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334125" y="2613570"/>
            <a:ext cx="528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Baswana-Sen: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Reaches </a:t>
            </a: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193.2 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 complete graphs.</a:t>
            </a:r>
            <a:endParaRPr b="0" i="0" sz="165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(89.7x heavier than Greedy's 1.22)</a:t>
            </a:r>
            <a:endParaRPr sz="16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169" name="Google Shape;16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20116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2637383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Results: The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Lightness</a:t>
            </a: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Paradox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096000" cy="5594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762000" y="762000"/>
            <a:ext cx="52006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Runtime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Scalability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762000" y="1590675"/>
            <a:ext cx="4953000" cy="627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O(V4) bottleneck of Greedy vs the linear-time efficiency of Baswana-Sen Clustering.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762000" y="3742580"/>
            <a:ext cx="49530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Baswana-Sen is </a:t>
            </a:r>
            <a:r>
              <a:rPr b="1" lang="en-US" sz="16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33.7x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faster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on matched instances and successfully traverses 4,039 nodes in under 1.5 seconds.</a:t>
            </a:r>
            <a:endParaRPr/>
          </a:p>
        </p:txBody>
      </p:sp>
      <p:pic>
        <p:nvPicPr>
          <p:cNvPr id="181" name="Google Shape;181;p20" title="fig_runtime.png"/>
          <p:cNvPicPr preferRelativeResize="0"/>
          <p:nvPr/>
        </p:nvPicPr>
        <p:blipFill rotWithShape="1">
          <a:blip r:embed="rId5">
            <a:alphaModFix/>
          </a:blip>
          <a:srcRect b="-25438" l="0" r="0" t="-25438"/>
          <a:stretch/>
        </p:blipFill>
        <p:spPr>
          <a:xfrm>
            <a:off x="6096000" y="0"/>
            <a:ext cx="6096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1906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77355"/>
            <a:ext cx="5286375" cy="17371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04977"/>
            <a:ext cx="5286375" cy="197703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1400175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Measuring realized distance distortion vs theoretical bounds.</a:t>
            </a:r>
            <a:endParaRPr/>
          </a:p>
        </p:txBody>
      </p:sp>
      <p:pic>
        <p:nvPicPr>
          <p:cNvPr id="191" name="Google Shape;191;p21" title="fig_stretch.png"/>
          <p:cNvPicPr preferRelativeResize="0"/>
          <p:nvPr/>
        </p:nvPicPr>
        <p:blipFill rotWithShape="1">
          <a:blip r:embed="rId7">
            <a:alphaModFix/>
          </a:blip>
          <a:srcRect b="0" l="-751" r="-761" t="-1719"/>
          <a:stretch/>
        </p:blipFill>
        <p:spPr>
          <a:xfrm>
            <a:off x="6343650" y="1200150"/>
            <a:ext cx="5267323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866775" y="2472630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Greedy (3.35)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66775" y="2967930"/>
            <a:ext cx="469582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Utilizes full stretch budget to maximize edge rejection. Paths are volatile and push analytical ceilings.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866775" y="4400252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Baswana-Sen (1.51)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66775" y="4895552"/>
            <a:ext cx="469582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Conservative results. Distance-oblivious clustering over-preserves topology, resulting in much lower stretch than allowed.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Effective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Stretch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190625"/>
            <a:ext cx="3492549" cy="2769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190625"/>
            <a:ext cx="3492549" cy="27693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190625"/>
            <a:ext cx="3492549" cy="276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866775" y="20383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Computational Cap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866775" y="2533650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Greedy limited to n ≤ 500. Pure Python Dijkstra queries induced hardware stalls beyond this boundary.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4645074" y="20383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Dataset Scope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4645074" y="2533650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TSPLIB synchronization restricted to an 81-instance verified subset due to host server outages.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8423374" y="2038350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Stretch Oracles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423374" y="2533650"/>
            <a:ext cx="2901999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Reliance on 1,000-pair sampling for massive graphs introduces small statistical risk of missing worst-case stretch.</a:t>
            </a:r>
            <a:endParaRPr/>
          </a:p>
        </p:txBody>
      </p:sp>
      <p:pic>
        <p:nvPicPr>
          <p:cNvPr descr="image.png" id="211" name="Google Shape;21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5144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15144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15144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Project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Limitations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1457325"/>
            <a:ext cx="5286375" cy="746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"There is no alternative to Greedy for applications requiring a lightness guarantee."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571500" y="2489596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Greedy Dominates Quality: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Best for network routing where weight translates to cost.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571500" y="3219152"/>
            <a:ext cx="5286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BS Dominates Scale: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Necessary for P2P/Social network discovery where runtime is critical.</a:t>
            </a:r>
            <a:endParaRPr/>
          </a:p>
        </p:txBody>
      </p:sp>
      <p:pic>
        <p:nvPicPr>
          <p:cNvPr descr="image.png" id="223" name="Google Shape;22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1340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42964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</a:t>
            </a:r>
            <a:r>
              <a:rPr b="1" i="0" lang="en-US" sz="4050" u="none" cap="none" strike="noStrike">
                <a:solidFill>
                  <a:srgbClr val="BEF264"/>
                </a:solidFill>
                <a:latin typeface="Urbanist"/>
                <a:ea typeface="Urbanist"/>
                <a:cs typeface="Urbanist"/>
                <a:sym typeface="Urbanist"/>
              </a:rPr>
              <a:t>Insights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